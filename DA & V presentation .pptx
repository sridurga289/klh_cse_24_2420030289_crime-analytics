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4" r:id="rId4"/>
  </p:sldMasterIdLst>
  <p:notesMasterIdLst>
    <p:notesMasterId r:id="rId11"/>
  </p:notesMasterIdLst>
  <p:handoutMasterIdLst>
    <p:handoutMasterId r:id="rId12"/>
  </p:handoutMasterIdLst>
  <p:sldIdLst>
    <p:sldId id="310" r:id="rId5"/>
    <p:sldId id="315" r:id="rId6"/>
    <p:sldId id="316" r:id="rId7"/>
    <p:sldId id="318" r:id="rId8"/>
    <p:sldId id="319" r:id="rId9"/>
    <p:sldId id="29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6977"/>
    <a:srgbClr val="F5FAE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63CABB-BECB-4E7D-B1D4-A15FC6E0572F}" v="1" dt="2026-08-06T16:10:32.096"/>
    <p1510:client id="{E4B74AF8-C28D-478C-AB7C-DB11B21C709D}" v="5" dt="2026-08-07T05:05:44.238"/>
  </p1510:revLst>
</p1510:revInfo>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5394" autoAdjust="0"/>
  </p:normalViewPr>
  <p:slideViewPr>
    <p:cSldViewPr snapToGrid="0">
      <p:cViewPr varScale="1">
        <p:scale>
          <a:sx n="76" d="100"/>
          <a:sy n="76" d="100"/>
        </p:scale>
        <p:origin x="172"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 durga" userId="ea34a63144aed945" providerId="LiveId" clId="{631CA761-FA48-420B-9801-E68EB46AF0FE}"/>
    <pc:docChg chg="undo custSel addSld delSld modSld sldOrd">
      <pc:chgData name="sri durga" userId="ea34a63144aed945" providerId="LiveId" clId="{631CA761-FA48-420B-9801-E68EB46AF0FE}" dt="2026-08-07T05:06:56.195" v="55" actId="20577"/>
      <pc:docMkLst>
        <pc:docMk/>
      </pc:docMkLst>
      <pc:sldChg chg="addSp delSp modSp mod">
        <pc:chgData name="sri durga" userId="ea34a63144aed945" providerId="LiveId" clId="{631CA761-FA48-420B-9801-E68EB46AF0FE}" dt="2026-08-07T05:06:38.103" v="44" actId="208"/>
        <pc:sldMkLst>
          <pc:docMk/>
          <pc:sldMk cId="1760268449" sldId="310"/>
        </pc:sldMkLst>
        <pc:spChg chg="add del mod">
          <ac:chgData name="sri durga" userId="ea34a63144aed945" providerId="LiveId" clId="{631CA761-FA48-420B-9801-E68EB46AF0FE}" dt="2026-08-07T05:05:53.553" v="40"/>
          <ac:spMkLst>
            <pc:docMk/>
            <pc:sldMk cId="1760268449" sldId="310"/>
            <ac:spMk id="3" creationId="{F989EB9A-B069-31A8-7500-C929DEF65CF2}"/>
          </ac:spMkLst>
        </pc:spChg>
        <pc:spChg chg="mod">
          <ac:chgData name="sri durga" userId="ea34a63144aed945" providerId="LiveId" clId="{631CA761-FA48-420B-9801-E68EB46AF0FE}" dt="2026-08-07T05:06:38.103" v="44" actId="208"/>
          <ac:spMkLst>
            <pc:docMk/>
            <pc:sldMk cId="1760268449" sldId="310"/>
            <ac:spMk id="7" creationId="{C0147929-8D39-DAA9-C3C5-4829D9C31C27}"/>
          </ac:spMkLst>
        </pc:spChg>
      </pc:sldChg>
      <pc:sldChg chg="modSp mod ord">
        <pc:chgData name="sri durga" userId="ea34a63144aed945" providerId="LiveId" clId="{631CA761-FA48-420B-9801-E68EB46AF0FE}" dt="2026-08-07T05:06:56.195" v="55" actId="20577"/>
        <pc:sldMkLst>
          <pc:docMk/>
          <pc:sldMk cId="2124359760" sldId="315"/>
        </pc:sldMkLst>
        <pc:spChg chg="mod">
          <ac:chgData name="sri durga" userId="ea34a63144aed945" providerId="LiveId" clId="{631CA761-FA48-420B-9801-E68EB46AF0FE}" dt="2026-08-07T05:06:56.195" v="55" actId="20577"/>
          <ac:spMkLst>
            <pc:docMk/>
            <pc:sldMk cId="2124359760" sldId="315"/>
            <ac:spMk id="3" creationId="{1CB4720B-0DCE-7518-18E2-A6C8ACC95F63}"/>
          </ac:spMkLst>
        </pc:spChg>
      </pc:sldChg>
      <pc:sldChg chg="modSp mod">
        <pc:chgData name="sri durga" userId="ea34a63144aed945" providerId="LiveId" clId="{631CA761-FA48-420B-9801-E68EB46AF0FE}" dt="2026-08-07T04:51:01.706" v="23" actId="20577"/>
        <pc:sldMkLst>
          <pc:docMk/>
          <pc:sldMk cId="299823363" sldId="318"/>
        </pc:sldMkLst>
        <pc:spChg chg="mod">
          <ac:chgData name="sri durga" userId="ea34a63144aed945" providerId="LiveId" clId="{631CA761-FA48-420B-9801-E68EB46AF0FE}" dt="2026-08-07T04:51:01.706" v="23" actId="20577"/>
          <ac:spMkLst>
            <pc:docMk/>
            <pc:sldMk cId="299823363" sldId="318"/>
            <ac:spMk id="3" creationId="{1D0CFE2B-5C76-C8D4-282C-54B5169F05DD}"/>
          </ac:spMkLst>
        </pc:spChg>
      </pc:sldChg>
      <pc:sldChg chg="new del">
        <pc:chgData name="sri durga" userId="ea34a63144aed945" providerId="LiveId" clId="{631CA761-FA48-420B-9801-E68EB46AF0FE}" dt="2026-08-07T04:55:59.887" v="25" actId="47"/>
        <pc:sldMkLst>
          <pc:docMk/>
          <pc:sldMk cId="1361009505" sldId="319"/>
        </pc:sldMkLst>
      </pc:sldChg>
      <pc:sldChg chg="addSp delSp modSp add mod">
        <pc:chgData name="sri durga" userId="ea34a63144aed945" providerId="LiveId" clId="{631CA761-FA48-420B-9801-E68EB46AF0FE}" dt="2026-08-07T04:59:00.708" v="37" actId="12"/>
        <pc:sldMkLst>
          <pc:docMk/>
          <pc:sldMk cId="3538506192" sldId="319"/>
        </pc:sldMkLst>
        <pc:spChg chg="add del mod">
          <ac:chgData name="sri durga" userId="ea34a63144aed945" providerId="LiveId" clId="{631CA761-FA48-420B-9801-E68EB46AF0FE}" dt="2026-08-07T04:57:09.050" v="34"/>
          <ac:spMkLst>
            <pc:docMk/>
            <pc:sldMk cId="3538506192" sldId="319"/>
            <ac:spMk id="2" creationId="{AC6CFF44-019B-70F1-9B14-C9A632C51B63}"/>
          </ac:spMkLst>
        </pc:spChg>
        <pc:spChg chg="mod">
          <ac:chgData name="sri durga" userId="ea34a63144aed945" providerId="LiveId" clId="{631CA761-FA48-420B-9801-E68EB46AF0FE}" dt="2026-08-07T04:59:00.708" v="37" actId="12"/>
          <ac:spMkLst>
            <pc:docMk/>
            <pc:sldMk cId="3538506192" sldId="319"/>
            <ac:spMk id="3" creationId="{018F08B7-5890-0B0E-399F-2CC8DF46804B}"/>
          </ac:spMkLst>
        </pc:spChg>
        <pc:spChg chg="mod">
          <ac:chgData name="sri durga" userId="ea34a63144aed945" providerId="LiveId" clId="{631CA761-FA48-420B-9801-E68EB46AF0FE}" dt="2026-08-07T04:56:44.023" v="30" actId="2711"/>
          <ac:spMkLst>
            <pc:docMk/>
            <pc:sldMk cId="3538506192" sldId="319"/>
            <ac:spMk id="5" creationId="{45454AF7-D5C9-7074-1D05-201A78A5CC4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252186-C111-43A8-A0F7-F77FFDE4DF82}" type="datetimeFigureOut">
              <a:rPr lang="en-US" smtClean="0"/>
              <a:t>8/7/2026</a:t>
            </a:fld>
            <a:endParaRPr lang="en-US" dirty="0"/>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6CFAD-C154-4C9C-AD01-665A5055065E}" type="slidenum">
              <a:rPr lang="en-US" smtClean="0"/>
              <a:t>‹#›</a:t>
            </a:fld>
            <a:endParaRPr lang="en-US" dirty="0"/>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BB5B-F3DE-41D7-B279-483D20E8E363}" type="datetimeFigureOut">
              <a:rPr lang="en-US" smtClean="0"/>
              <a:t>8/7/2026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62BC0-7DC4-4569-951D-2BB9475345C6}" type="slidenum">
              <a:rPr lang="en-US" smtClean="0"/>
              <a:t>‹#›</a:t>
            </a:fld>
            <a:endParaRPr lang="en-US" dirty="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r>
              <a:rPr lang="en-US"/>
              <a:t>20XX</a:t>
            </a:r>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r>
              <a:rPr lang="en-US"/>
              <a:t>Pitch deck</a:t>
            </a:r>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A87306C-81BA-4795-A5CA-9392456A8C1E}" type="slidenum">
              <a:rPr lang="en-US" smtClean="0"/>
              <a:pPr/>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07000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2857365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11033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1530231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Pitch deck</a:t>
            </a:r>
            <a:endParaRPr lang="en-US" dirty="0"/>
          </a:p>
        </p:txBody>
      </p:sp>
      <p:sp>
        <p:nvSpPr>
          <p:cNvPr id="9" name="Slide Number Placeholder 8"/>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67570747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Pitch deck</a:t>
            </a:r>
            <a:endParaRPr lang="en-US" dirty="0"/>
          </a:p>
        </p:txBody>
      </p:sp>
      <p:sp>
        <p:nvSpPr>
          <p:cNvPr id="5" name="Slide Number Placeholder 4"/>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50418232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Pitch deck</a:t>
            </a:r>
            <a:endParaRPr lang="en-US" dirty="0"/>
          </a:p>
        </p:txBody>
      </p:sp>
      <p:sp>
        <p:nvSpPr>
          <p:cNvPr id="4" name="Slide Number Placeholder 3"/>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1177008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20913265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80599392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5527374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5183325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dirty="0"/>
              <a:t>Click to add title</a:t>
            </a:r>
          </a:p>
        </p:txBody>
      </p:sp>
    </p:spTree>
    <p:extLst>
      <p:ext uri="{BB962C8B-B14F-4D97-AF65-F5344CB8AC3E}">
        <p14:creationId xmlns:p14="http://schemas.microsoft.com/office/powerpoint/2010/main" val="2136357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dirty="0"/>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27471204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dirty="0"/>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dirty="0"/>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4238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dirty="0"/>
              <a:t>Click to add title</a:t>
            </a:r>
          </a:p>
        </p:txBody>
      </p:sp>
    </p:spTree>
    <p:extLst>
      <p:ext uri="{BB962C8B-B14F-4D97-AF65-F5344CB8AC3E}">
        <p14:creationId xmlns:p14="http://schemas.microsoft.com/office/powerpoint/2010/main" val="1737129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dirty="0"/>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764910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dirty="0"/>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dirty="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19122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dirty="0"/>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dirty="0"/>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0312096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dirty="0"/>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1476556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dirty="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691211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378806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dirty="0"/>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519510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dirty="0"/>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78116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r>
              <a:rPr lang="en-US"/>
              <a:t>20XX</a:t>
            </a:r>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r>
              <a:rPr lang="en-US"/>
              <a:t>Pitch deck</a:t>
            </a:r>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93628839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56" r:id="rId14"/>
    <p:sldLayoutId id="2147483673" r:id="rId15"/>
    <p:sldLayoutId id="2147483651" r:id="rId16"/>
    <p:sldLayoutId id="2147483671" r:id="rId17"/>
    <p:sldLayoutId id="2147483652" r:id="rId18"/>
    <p:sldLayoutId id="2147483653" r:id="rId19"/>
    <p:sldLayoutId id="2147483650" r:id="rId20"/>
    <p:sldLayoutId id="2147483664" r:id="rId21"/>
    <p:sldLayoutId id="2147483659" r:id="rId22"/>
    <p:sldLayoutId id="2147483662" r:id="rId23"/>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147929-8D39-DAA9-C3C5-4829D9C31C27}"/>
              </a:ext>
            </a:extLst>
          </p:cNvPr>
          <p:cNvSpPr>
            <a:spLocks noGrp="1"/>
          </p:cNvSpPr>
          <p:nvPr>
            <p:ph type="title"/>
          </p:nvPr>
        </p:nvSpPr>
        <p:spPr>
          <a:xfrm>
            <a:off x="297809" y="1921079"/>
            <a:ext cx="11596381" cy="2164359"/>
          </a:xfrm>
          <a:ln>
            <a:solidFill>
              <a:srgbClr val="476977"/>
            </a:solidFill>
          </a:ln>
        </p:spPr>
        <p:txBody>
          <a:bodyPr>
            <a:normAutofit/>
          </a:bodyPr>
          <a:lstStyle/>
          <a:p>
            <a:r>
              <a:rPr lang="en-IN" sz="3000" dirty="0">
                <a:solidFill>
                  <a:schemeClr val="tx1">
                    <a:lumMod val="95000"/>
                    <a:lumOff val="5000"/>
                  </a:schemeClr>
                </a:solidFill>
                <a:latin typeface="Book Antiqua" panose="02040602050305030304" pitchFamily="18" charset="0"/>
              </a:rPr>
              <a:t>Crime Analytics and Hotspot Detection Dashboard</a:t>
            </a:r>
            <a:endParaRPr lang="en-US" sz="3000" dirty="0">
              <a:solidFill>
                <a:schemeClr val="tx1">
                  <a:lumMod val="95000"/>
                  <a:lumOff val="5000"/>
                </a:schemeClr>
              </a:solidFill>
              <a:latin typeface="Book Antiqua" panose="02040602050305030304" pitchFamily="18" charset="0"/>
            </a:endParaRPr>
          </a:p>
        </p:txBody>
      </p:sp>
      <p:sp>
        <p:nvSpPr>
          <p:cNvPr id="2" name="TextBox 1">
            <a:extLst>
              <a:ext uri="{FF2B5EF4-FFF2-40B4-BE49-F238E27FC236}">
                <a16:creationId xmlns:a16="http://schemas.microsoft.com/office/drawing/2014/main" id="{AD3FDFCC-3F17-C1CF-921C-639F6E24C92B}"/>
              </a:ext>
            </a:extLst>
          </p:cNvPr>
          <p:cNvSpPr txBox="1"/>
          <p:nvPr/>
        </p:nvSpPr>
        <p:spPr>
          <a:xfrm>
            <a:off x="9689285" y="4701396"/>
            <a:ext cx="1792473" cy="646331"/>
          </a:xfrm>
          <a:prstGeom prst="rect">
            <a:avLst/>
          </a:prstGeom>
          <a:noFill/>
        </p:spPr>
        <p:txBody>
          <a:bodyPr wrap="square" rtlCol="0">
            <a:spAutoFit/>
          </a:bodyPr>
          <a:lstStyle/>
          <a:p>
            <a:r>
              <a:rPr lang="en-IN" dirty="0">
                <a:latin typeface="Bookman Old Style" panose="02050604050505020204" pitchFamily="18" charset="0"/>
              </a:rPr>
              <a:t>2420030289</a:t>
            </a:r>
          </a:p>
          <a:p>
            <a:r>
              <a:rPr lang="en-IN" dirty="0">
                <a:latin typeface="Bookman Old Style" panose="02050604050505020204" pitchFamily="18" charset="0"/>
              </a:rPr>
              <a:t>2420040041</a:t>
            </a:r>
          </a:p>
        </p:txBody>
      </p:sp>
    </p:spTree>
    <p:extLst>
      <p:ext uri="{BB962C8B-B14F-4D97-AF65-F5344CB8AC3E}">
        <p14:creationId xmlns:p14="http://schemas.microsoft.com/office/powerpoint/2010/main" val="176026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0">
            <a:extLst>
              <a:ext uri="{FF2B5EF4-FFF2-40B4-BE49-F238E27FC236}">
                <a16:creationId xmlns:a16="http://schemas.microsoft.com/office/drawing/2014/main" id="{8B85DC3D-7B2A-2E03-D5C7-A432A39A6C56}"/>
              </a:ext>
            </a:extLst>
          </p:cNvPr>
          <p:cNvSpPr>
            <a:spLocks noGrp="1"/>
          </p:cNvSpPr>
          <p:nvPr>
            <p:ph type="title"/>
          </p:nvPr>
        </p:nvSpPr>
        <p:spPr>
          <a:xfrm>
            <a:off x="1702966" y="1090570"/>
            <a:ext cx="7824808" cy="904068"/>
          </a:xfrm>
        </p:spPr>
        <p:txBody>
          <a:bodyPr/>
          <a:lstStyle/>
          <a:p>
            <a:r>
              <a:rPr lang="en-IN" b="1" dirty="0">
                <a:latin typeface="Californian FB" panose="0207040306080B030204" pitchFamily="18" charset="0"/>
              </a:rPr>
              <a:t>Introduction</a:t>
            </a:r>
            <a:endParaRPr lang="en-US" b="1" dirty="0">
              <a:latin typeface="Californian FB" panose="0207040306080B030204" pitchFamily="18" charset="0"/>
            </a:endParaRPr>
          </a:p>
        </p:txBody>
      </p:sp>
      <p:sp>
        <p:nvSpPr>
          <p:cNvPr id="3" name="Text Placeholder 2">
            <a:extLst>
              <a:ext uri="{FF2B5EF4-FFF2-40B4-BE49-F238E27FC236}">
                <a16:creationId xmlns:a16="http://schemas.microsoft.com/office/drawing/2014/main" id="{1CB4720B-0DCE-7518-18E2-A6C8ACC95F63}"/>
              </a:ext>
            </a:extLst>
          </p:cNvPr>
          <p:cNvSpPr>
            <a:spLocks noGrp="1"/>
          </p:cNvSpPr>
          <p:nvPr>
            <p:ph type="body" sz="quarter" idx="19"/>
          </p:nvPr>
        </p:nvSpPr>
        <p:spPr>
          <a:xfrm>
            <a:off x="1214306" y="2483141"/>
            <a:ext cx="9763387" cy="2080470"/>
          </a:xfrm>
        </p:spPr>
        <p:txBody>
          <a:bodyPr>
            <a:normAutofit/>
          </a:bodyPr>
          <a:lstStyle/>
          <a:p>
            <a:pPr algn="l">
              <a:lnSpc>
                <a:spcPct val="150000"/>
              </a:lnSpc>
            </a:pPr>
            <a:r>
              <a:rPr lang="en-IN" sz="2000" dirty="0">
                <a:latin typeface="Californian FB" panose="0207040306080B030204" pitchFamily="18" charset="0"/>
              </a:rPr>
              <a:t>Crime is a growing concern that affects </a:t>
            </a:r>
            <a:r>
              <a:rPr lang="en-IN" sz="2000">
                <a:latin typeface="Californian FB" panose="0207040306080B030204" pitchFamily="18" charset="0"/>
              </a:rPr>
              <a:t>public safety. </a:t>
            </a:r>
            <a:r>
              <a:rPr lang="en-IN" sz="2000" dirty="0">
                <a:latin typeface="Californian FB" panose="0207040306080B030204" pitchFamily="18" charset="0"/>
              </a:rPr>
              <a:t>Analysing crime data helps identify patterns, trends, and high-risk locations. This project develops an interactive dashboard to visualize crime data and detect hotspots, enabling better understanding and decision-making.</a:t>
            </a:r>
          </a:p>
        </p:txBody>
      </p:sp>
    </p:spTree>
    <p:extLst>
      <p:ext uri="{BB962C8B-B14F-4D97-AF65-F5344CB8AC3E}">
        <p14:creationId xmlns:p14="http://schemas.microsoft.com/office/powerpoint/2010/main" val="212435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F48D-0D51-5B99-99D6-02877E720B7A}"/>
            </a:ext>
          </a:extLst>
        </p:cNvPr>
        <p:cNvGrpSpPr/>
        <p:nvPr/>
      </p:nvGrpSpPr>
      <p:grpSpPr>
        <a:xfrm>
          <a:off x="0" y="0"/>
          <a:ext cx="0" cy="0"/>
          <a:chOff x="0" y="0"/>
          <a:chExt cx="0" cy="0"/>
        </a:xfrm>
      </p:grpSpPr>
      <p:sp>
        <p:nvSpPr>
          <p:cNvPr id="5" name="Title 20">
            <a:extLst>
              <a:ext uri="{FF2B5EF4-FFF2-40B4-BE49-F238E27FC236}">
                <a16:creationId xmlns:a16="http://schemas.microsoft.com/office/drawing/2014/main" id="{A46B9C79-D3F5-6E68-29D9-A2F13181B57F}"/>
              </a:ext>
            </a:extLst>
          </p:cNvPr>
          <p:cNvSpPr>
            <a:spLocks noGrp="1"/>
          </p:cNvSpPr>
          <p:nvPr>
            <p:ph type="title"/>
          </p:nvPr>
        </p:nvSpPr>
        <p:spPr>
          <a:xfrm>
            <a:off x="1559382" y="695756"/>
            <a:ext cx="8325322" cy="923319"/>
          </a:xfrm>
        </p:spPr>
        <p:txBody>
          <a:bodyPr/>
          <a:lstStyle/>
          <a:p>
            <a:r>
              <a:rPr lang="en-IN" b="1" dirty="0">
                <a:latin typeface="Californian FB" panose="0207040306080B030204" pitchFamily="18" charset="0"/>
              </a:rPr>
              <a:t>Problem Statement</a:t>
            </a:r>
            <a:endParaRPr lang="en-US" b="1" dirty="0">
              <a:latin typeface="Californian FB" panose="0207040306080B030204" pitchFamily="18" charset="0"/>
              <a:cs typeface="Mongolian Baiti" panose="03000500000000000000" pitchFamily="66" charset="0"/>
            </a:endParaRPr>
          </a:p>
        </p:txBody>
      </p:sp>
      <p:sp>
        <p:nvSpPr>
          <p:cNvPr id="3" name="Text Placeholder 2">
            <a:extLst>
              <a:ext uri="{FF2B5EF4-FFF2-40B4-BE49-F238E27FC236}">
                <a16:creationId xmlns:a16="http://schemas.microsoft.com/office/drawing/2014/main" id="{F5745397-5E65-5B8E-D0EE-B8AD7370BFC6}"/>
              </a:ext>
            </a:extLst>
          </p:cNvPr>
          <p:cNvSpPr>
            <a:spLocks noGrp="1"/>
          </p:cNvSpPr>
          <p:nvPr>
            <p:ph type="body" sz="quarter" idx="19"/>
          </p:nvPr>
        </p:nvSpPr>
        <p:spPr>
          <a:xfrm>
            <a:off x="578840" y="2080470"/>
            <a:ext cx="10584111" cy="3570046"/>
          </a:xfrm>
        </p:spPr>
        <p:txBody>
          <a:bodyPr>
            <a:normAutofit/>
          </a:bodyPr>
          <a:lstStyle/>
          <a:p>
            <a:pPr algn="l"/>
            <a:endParaRPr lang="en-IN" sz="2000" dirty="0">
              <a:latin typeface="Californian FB" panose="0207040306080B030204" pitchFamily="18" charset="0"/>
            </a:endParaRPr>
          </a:p>
          <a:p>
            <a:pPr algn="l"/>
            <a:r>
              <a:rPr lang="en-IN" sz="2000" dirty="0">
                <a:latin typeface="Californian FB" panose="0207040306080B030204" pitchFamily="18" charset="0"/>
              </a:rPr>
              <a:t>The increasing volume of crime data makes it difficult to identify crime patterns, trends, and high-risk locations using traditional reporting methods. Existing systems often lack interactive visualization and geospatial analysis, making it challenging for authorities to monitor crime effectively and make data-driven decisions. Therefore, an interactive </a:t>
            </a:r>
            <a:r>
              <a:rPr lang="en-IN" sz="2000" b="1" dirty="0">
                <a:latin typeface="Californian FB" panose="0207040306080B030204" pitchFamily="18" charset="0"/>
              </a:rPr>
              <a:t>Crime Analytics and Hotspot Detection Dashboard</a:t>
            </a:r>
            <a:r>
              <a:rPr lang="en-IN" sz="2000" dirty="0">
                <a:latin typeface="Californian FB" panose="0207040306080B030204" pitchFamily="18" charset="0"/>
              </a:rPr>
              <a:t> is needed to analyse crime data, visualize trends, and identify crime hotspots efficiently.</a:t>
            </a:r>
          </a:p>
        </p:txBody>
      </p:sp>
    </p:spTree>
    <p:extLst>
      <p:ext uri="{BB962C8B-B14F-4D97-AF65-F5344CB8AC3E}">
        <p14:creationId xmlns:p14="http://schemas.microsoft.com/office/powerpoint/2010/main" val="1887073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59313-212A-04E8-1626-DE04756F2891}"/>
            </a:ext>
          </a:extLst>
        </p:cNvPr>
        <p:cNvGrpSpPr/>
        <p:nvPr/>
      </p:nvGrpSpPr>
      <p:grpSpPr>
        <a:xfrm>
          <a:off x="0" y="0"/>
          <a:ext cx="0" cy="0"/>
          <a:chOff x="0" y="0"/>
          <a:chExt cx="0" cy="0"/>
        </a:xfrm>
      </p:grpSpPr>
      <p:sp>
        <p:nvSpPr>
          <p:cNvPr id="5" name="Title 20">
            <a:extLst>
              <a:ext uri="{FF2B5EF4-FFF2-40B4-BE49-F238E27FC236}">
                <a16:creationId xmlns:a16="http://schemas.microsoft.com/office/drawing/2014/main" id="{AC50EFC6-9547-C0EB-3D3D-B12AD7A69A85}"/>
              </a:ext>
            </a:extLst>
          </p:cNvPr>
          <p:cNvSpPr>
            <a:spLocks noGrp="1"/>
          </p:cNvSpPr>
          <p:nvPr>
            <p:ph type="title"/>
          </p:nvPr>
        </p:nvSpPr>
        <p:spPr>
          <a:xfrm>
            <a:off x="1736523" y="864066"/>
            <a:ext cx="7801762" cy="587230"/>
          </a:xfrm>
        </p:spPr>
        <p:txBody>
          <a:bodyPr/>
          <a:lstStyle/>
          <a:p>
            <a:r>
              <a:rPr lang="en-IN" dirty="0">
                <a:latin typeface="Californian FB" panose="0207040306080B030204" pitchFamily="18" charset="0"/>
              </a:rPr>
              <a:t>Abstract</a:t>
            </a:r>
            <a:endParaRPr lang="en-US" dirty="0">
              <a:latin typeface="Californian FB" panose="0207040306080B030204" pitchFamily="18" charset="0"/>
              <a:cs typeface="Mongolian Baiti" panose="03000500000000000000" pitchFamily="66" charset="0"/>
            </a:endParaRPr>
          </a:p>
        </p:txBody>
      </p:sp>
      <p:sp>
        <p:nvSpPr>
          <p:cNvPr id="3" name="Text Placeholder 2">
            <a:extLst>
              <a:ext uri="{FF2B5EF4-FFF2-40B4-BE49-F238E27FC236}">
                <a16:creationId xmlns:a16="http://schemas.microsoft.com/office/drawing/2014/main" id="{1D0CFE2B-5C76-C8D4-282C-54B5169F05DD}"/>
              </a:ext>
            </a:extLst>
          </p:cNvPr>
          <p:cNvSpPr>
            <a:spLocks noGrp="1"/>
          </p:cNvSpPr>
          <p:nvPr>
            <p:ph type="body" sz="quarter" idx="19"/>
          </p:nvPr>
        </p:nvSpPr>
        <p:spPr>
          <a:xfrm>
            <a:off x="620785" y="2063693"/>
            <a:ext cx="10645630" cy="3930241"/>
          </a:xfrm>
        </p:spPr>
        <p:txBody>
          <a:bodyPr>
            <a:normAutofit/>
          </a:bodyPr>
          <a:lstStyle/>
          <a:p>
            <a:r>
              <a:rPr lang="en-IN" sz="2000" b="1" dirty="0">
                <a:latin typeface="Californian FB" panose="0207040306080B030204" pitchFamily="18" charset="0"/>
              </a:rPr>
              <a:t>The Crime Analytics and Hotspot Detection Dashboard</a:t>
            </a:r>
            <a:r>
              <a:rPr lang="en-IN" sz="2000" dirty="0">
                <a:latin typeface="Californian FB" panose="0207040306080B030204" pitchFamily="18" charset="0"/>
              </a:rPr>
              <a:t> is a data analytics and visualization system that analyses crime data to </a:t>
            </a:r>
            <a:r>
              <a:rPr lang="en-IN" sz="2000">
                <a:latin typeface="Californian FB" panose="0207040306080B030204" pitchFamily="18" charset="0"/>
              </a:rPr>
              <a:t>identify crime areas</a:t>
            </a:r>
            <a:r>
              <a:rPr lang="en-IN" sz="2000" dirty="0">
                <a:latin typeface="Californian FB" panose="0207040306080B030204" pitchFamily="18" charset="0"/>
              </a:rPr>
              <a:t>. It presents crime information through interactive charts, graphs, and maps, allowing users to explore crime trends by location, time, and crime type. The system identifies crime hotspots using geospatial visualization, helping users understand crime patterns and distributions. By providing clear insights, it supports better decision-making, efficient resource allocation, and improved public safety for law enforcement agencies, government authorities, researchers, and the public.</a:t>
            </a:r>
          </a:p>
        </p:txBody>
      </p:sp>
    </p:spTree>
    <p:extLst>
      <p:ext uri="{BB962C8B-B14F-4D97-AF65-F5344CB8AC3E}">
        <p14:creationId xmlns:p14="http://schemas.microsoft.com/office/powerpoint/2010/main" val="299823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DBA18-0F57-D061-6298-2F6B33B7E7AA}"/>
            </a:ext>
          </a:extLst>
        </p:cNvPr>
        <p:cNvGrpSpPr/>
        <p:nvPr/>
      </p:nvGrpSpPr>
      <p:grpSpPr>
        <a:xfrm>
          <a:off x="0" y="0"/>
          <a:ext cx="0" cy="0"/>
          <a:chOff x="0" y="0"/>
          <a:chExt cx="0" cy="0"/>
        </a:xfrm>
      </p:grpSpPr>
      <p:sp>
        <p:nvSpPr>
          <p:cNvPr id="5" name="Title 20">
            <a:extLst>
              <a:ext uri="{FF2B5EF4-FFF2-40B4-BE49-F238E27FC236}">
                <a16:creationId xmlns:a16="http://schemas.microsoft.com/office/drawing/2014/main" id="{45454AF7-D5C9-7074-1D05-201A78A5CC4E}"/>
              </a:ext>
            </a:extLst>
          </p:cNvPr>
          <p:cNvSpPr>
            <a:spLocks noGrp="1"/>
          </p:cNvSpPr>
          <p:nvPr>
            <p:ph type="title"/>
          </p:nvPr>
        </p:nvSpPr>
        <p:spPr>
          <a:xfrm>
            <a:off x="1736523" y="864066"/>
            <a:ext cx="7801762" cy="587230"/>
          </a:xfrm>
        </p:spPr>
        <p:txBody>
          <a:bodyPr/>
          <a:lstStyle/>
          <a:p>
            <a:r>
              <a:rPr lang="en-IN" dirty="0">
                <a:latin typeface="Californian FB" panose="0207040306080B030204" pitchFamily="18" charset="0"/>
              </a:rPr>
              <a:t>Expected Outcome</a:t>
            </a:r>
            <a:endParaRPr lang="en-US" dirty="0">
              <a:latin typeface="Californian FB" panose="0207040306080B030204" pitchFamily="18" charset="0"/>
              <a:cs typeface="Mongolian Baiti" panose="03000500000000000000" pitchFamily="66" charset="0"/>
            </a:endParaRPr>
          </a:p>
        </p:txBody>
      </p:sp>
      <p:sp>
        <p:nvSpPr>
          <p:cNvPr id="3" name="Text Placeholder 2">
            <a:extLst>
              <a:ext uri="{FF2B5EF4-FFF2-40B4-BE49-F238E27FC236}">
                <a16:creationId xmlns:a16="http://schemas.microsoft.com/office/drawing/2014/main" id="{018F08B7-5890-0B0E-399F-2CC8DF46804B}"/>
              </a:ext>
            </a:extLst>
          </p:cNvPr>
          <p:cNvSpPr>
            <a:spLocks noGrp="1"/>
          </p:cNvSpPr>
          <p:nvPr>
            <p:ph type="body" sz="quarter" idx="19"/>
          </p:nvPr>
        </p:nvSpPr>
        <p:spPr>
          <a:xfrm>
            <a:off x="620785" y="2063693"/>
            <a:ext cx="10645630" cy="3930241"/>
          </a:xfrm>
        </p:spPr>
        <p:txBody>
          <a:bodyPr>
            <a:normAutofit/>
          </a:bodyPr>
          <a:lstStyle/>
          <a:p>
            <a:pPr marL="342900" lvl="0" indent="-342900" algn="l">
              <a:buFont typeface="Wingdings" panose="05000000000000000000" pitchFamily="2" charset="2"/>
              <a:buChar char="§"/>
            </a:pPr>
            <a:r>
              <a:rPr lang="en-IN" sz="2000" dirty="0" err="1">
                <a:latin typeface="Californian FB" panose="0207040306080B030204" pitchFamily="18" charset="0"/>
              </a:rPr>
              <a:t>Analyze</a:t>
            </a:r>
            <a:r>
              <a:rPr lang="en-IN" sz="2000" dirty="0">
                <a:latin typeface="Californian FB" panose="0207040306080B030204" pitchFamily="18" charset="0"/>
              </a:rPr>
              <a:t> crime data accurately and identify crime patterns. </a:t>
            </a:r>
          </a:p>
          <a:p>
            <a:pPr marL="342900" lvl="0" indent="-342900" algn="l">
              <a:buFont typeface="Wingdings" panose="05000000000000000000" pitchFamily="2" charset="2"/>
              <a:buChar char="§"/>
            </a:pPr>
            <a:r>
              <a:rPr lang="en-IN" sz="2000" dirty="0">
                <a:latin typeface="Californian FB" panose="0207040306080B030204" pitchFamily="18" charset="0"/>
              </a:rPr>
              <a:t>Detect crime hotspot areas using location-based analysis. </a:t>
            </a:r>
          </a:p>
          <a:p>
            <a:pPr marL="342900" lvl="0" indent="-342900" algn="l">
              <a:buFont typeface="Wingdings" panose="05000000000000000000" pitchFamily="2" charset="2"/>
              <a:buChar char="§"/>
            </a:pPr>
            <a:r>
              <a:rPr lang="en-IN" sz="2000" dirty="0">
                <a:latin typeface="Californian FB" panose="0207040306080B030204" pitchFamily="18" charset="0"/>
              </a:rPr>
              <a:t>Display crime trends through interactive charts, graphs, and maps. </a:t>
            </a:r>
          </a:p>
          <a:p>
            <a:pPr marL="342900" lvl="0" indent="-342900" algn="l">
              <a:buFont typeface="Wingdings" panose="05000000000000000000" pitchFamily="2" charset="2"/>
              <a:buChar char="§"/>
            </a:pPr>
            <a:r>
              <a:rPr lang="en-IN" sz="2000" dirty="0">
                <a:latin typeface="Californian FB" panose="0207040306080B030204" pitchFamily="18" charset="0"/>
              </a:rPr>
              <a:t>Help law enforcement and government authorities make better decisions. </a:t>
            </a:r>
          </a:p>
          <a:p>
            <a:pPr marL="342900" lvl="0" indent="-342900" algn="l">
              <a:buFont typeface="Wingdings" panose="05000000000000000000" pitchFamily="2" charset="2"/>
              <a:buChar char="§"/>
            </a:pPr>
            <a:r>
              <a:rPr lang="en-IN" sz="2000" dirty="0">
                <a:latin typeface="Californian FB" panose="0207040306080B030204" pitchFamily="18" charset="0"/>
              </a:rPr>
              <a:t>Improve resource allocation and support public safety by providing clear, data-driven insights.</a:t>
            </a:r>
          </a:p>
        </p:txBody>
      </p:sp>
    </p:spTree>
    <p:extLst>
      <p:ext uri="{BB962C8B-B14F-4D97-AF65-F5344CB8AC3E}">
        <p14:creationId xmlns:p14="http://schemas.microsoft.com/office/powerpoint/2010/main" val="353850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CBCD3B-EAB4-87E8-85AB-C9DDB7162C68}"/>
              </a:ext>
            </a:extLst>
          </p:cNvPr>
          <p:cNvSpPr>
            <a:spLocks noGrp="1"/>
          </p:cNvSpPr>
          <p:nvPr>
            <p:ph type="title"/>
          </p:nvPr>
        </p:nvSpPr>
        <p:spPr>
          <a:xfrm>
            <a:off x="3680314" y="1811160"/>
            <a:ext cx="4442603" cy="2124827"/>
          </a:xfrm>
        </p:spPr>
        <p:txBody>
          <a:bodyPr/>
          <a:lstStyle/>
          <a:p>
            <a:r>
              <a:rPr lang="en-US" dirty="0">
                <a:latin typeface="Baskerville Old Face" panose="02020602080505020303" pitchFamily="18" charset="0"/>
              </a:rPr>
              <a:t>Thank you</a:t>
            </a:r>
          </a:p>
        </p:txBody>
      </p:sp>
    </p:spTree>
    <p:extLst>
      <p:ext uri="{BB962C8B-B14F-4D97-AF65-F5344CB8AC3E}">
        <p14:creationId xmlns:p14="http://schemas.microsoft.com/office/powerpoint/2010/main" val="3010151088"/>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AD180A-D253-4F84-BD24-8EE736E655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19A644-6410-4EC7-894C-877E70305DF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E9424615-5FE5-4F43-AE24-3BC9A053268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Basis</Template>
  <TotalTime>172</TotalTime>
  <Words>286</Words>
  <Application>Microsoft Office PowerPoint</Application>
  <PresentationFormat>Widescreen</PresentationFormat>
  <Paragraphs>17</Paragraphs>
  <Slides>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Arial</vt:lpstr>
      <vt:lpstr>Baskerville Old Face</vt:lpstr>
      <vt:lpstr>Book Antiqua</vt:lpstr>
      <vt:lpstr>Bookman Old Style</vt:lpstr>
      <vt:lpstr>Calibri</vt:lpstr>
      <vt:lpstr>Californian FB</vt:lpstr>
      <vt:lpstr>Corbel</vt:lpstr>
      <vt:lpstr>Wingdings</vt:lpstr>
      <vt:lpstr>Basis</vt:lpstr>
      <vt:lpstr>Crime Analytics and Hotspot Detection Dashboard</vt:lpstr>
      <vt:lpstr>Introduction</vt:lpstr>
      <vt:lpstr>Problem Statement</vt:lpstr>
      <vt:lpstr>Abstract</vt:lpstr>
      <vt:lpstr>Expected Outcome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durga</dc:creator>
  <cp:lastModifiedBy>sri durga</cp:lastModifiedBy>
  <cp:revision>4</cp:revision>
  <dcterms:created xsi:type="dcterms:W3CDTF">2026-07-16T16:44:21Z</dcterms:created>
  <dcterms:modified xsi:type="dcterms:W3CDTF">2026-08-07T05:06:57Z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